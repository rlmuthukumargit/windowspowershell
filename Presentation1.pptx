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6" r:id="rId4"/>
    <p:sldId id="258" r:id="rId5"/>
    <p:sldId id="259" r:id="rId6"/>
    <p:sldId id="261" r:id="rId7"/>
    <p:sldId id="262" r:id="rId8"/>
    <p:sldId id="267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93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48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44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95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42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78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8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61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3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97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749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58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75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97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85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64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14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45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1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556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75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6769B-7200-494A-8802-1B6C4D3CEF9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9ED62-E319-42B8-8CB1-C28B499A9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13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2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1817" y="383177"/>
            <a:ext cx="9736183" cy="5765073"/>
          </a:xfrm>
        </p:spPr>
        <p:txBody>
          <a:bodyPr/>
          <a:lstStyle/>
          <a:p>
            <a:endParaRPr lang="en-US" dirty="0"/>
          </a:p>
          <a:p>
            <a:endParaRPr lang="en-IN" sz="4800" b="1" dirty="0"/>
          </a:p>
          <a:p>
            <a:endParaRPr lang="en-IN" sz="4800" b="1" dirty="0"/>
          </a:p>
          <a:p>
            <a:r>
              <a:rPr lang="en-IN" sz="4800" b="1" dirty="0"/>
              <a:t>Grafana Monitoring Solution</a:t>
            </a:r>
          </a:p>
          <a:p>
            <a:r>
              <a:rPr lang="en-US" sz="2800" dirty="0"/>
              <a:t>Chatbot Monitoring with Loki and Promtail</a:t>
            </a:r>
            <a:endParaRPr lang="en-IN" sz="2800" b="1" dirty="0"/>
          </a:p>
          <a:p>
            <a:endParaRPr lang="en-US" dirty="0"/>
          </a:p>
          <a:p>
            <a:r>
              <a:rPr lang="en-IN" dirty="0">
                <a:solidFill>
                  <a:schemeClr val="tx2"/>
                </a:solidFill>
              </a:rPr>
              <a:t>Enterprise Monitoring Solution</a:t>
            </a:r>
          </a:p>
        </p:txBody>
      </p:sp>
    </p:spTree>
    <p:extLst>
      <p:ext uri="{BB962C8B-B14F-4D97-AF65-F5344CB8AC3E}">
        <p14:creationId xmlns:p14="http://schemas.microsoft.com/office/powerpoint/2010/main" val="214276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74321"/>
            <a:ext cx="41597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>
              <a:defRPr sz="3200" b="1"/>
            </a:pPr>
            <a:r>
              <a:rPr sz="3200" b="1" dirty="0">
                <a:solidFill>
                  <a:prstClr val="black"/>
                </a:solidFill>
                <a:latin typeface="Calibri"/>
              </a:rPr>
              <a:t>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260" y="2621637"/>
            <a:ext cx="1994069" cy="714814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1400" b="1"/>
            </a:pPr>
            <a:r>
              <a:rPr lang="en-US" sz="1400" b="1" dirty="0">
                <a:solidFill>
                  <a:prstClr val="white"/>
                </a:solidFill>
                <a:latin typeface="Calibri"/>
              </a:rPr>
              <a:t>Log Analytics workspace </a:t>
            </a:r>
          </a:p>
          <a:p>
            <a:pPr defTabSz="457200">
              <a:defRPr sz="1400" b="1"/>
            </a:pPr>
            <a:r>
              <a:rPr lang="en-US" sz="1000" b="1" dirty="0">
                <a:solidFill>
                  <a:prstClr val="white"/>
                </a:solidFill>
                <a:latin typeface="Calibri"/>
              </a:rPr>
              <a:t>(system logs, Application logs)</a:t>
            </a:r>
            <a:endParaRPr sz="1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2232" y="2643057"/>
            <a:ext cx="1596327" cy="69339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1400" b="1"/>
            </a:pPr>
            <a:r>
              <a:rPr sz="1400" b="1" dirty="0" err="1">
                <a:solidFill>
                  <a:prstClr val="white"/>
                </a:solidFill>
                <a:latin typeface="Calibri"/>
              </a:rPr>
              <a:t>Promtail</a:t>
            </a:r>
            <a:endParaRPr sz="1400" b="1" dirty="0">
              <a:solidFill>
                <a:prstClr val="white"/>
              </a:solidFill>
              <a:latin typeface="Calibri"/>
            </a:endParaRPr>
          </a:p>
          <a:p>
            <a:pPr defTabSz="457200"/>
            <a:r>
              <a:rPr sz="1000" dirty="0">
                <a:solidFill>
                  <a:prstClr val="white"/>
                </a:solidFill>
                <a:latin typeface="Calibri"/>
              </a:rPr>
              <a:t>Log Collector &amp; Shipper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739467" y="2633134"/>
            <a:ext cx="1596327" cy="672207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1400" b="1"/>
            </a:pPr>
            <a:r>
              <a:rPr sz="1400" b="1" dirty="0">
                <a:solidFill>
                  <a:prstClr val="white"/>
                </a:solidFill>
                <a:latin typeface="Calibri"/>
              </a:rPr>
              <a:t>Loki</a:t>
            </a:r>
          </a:p>
          <a:p>
            <a:pPr defTabSz="457200"/>
            <a:r>
              <a:rPr sz="1000" dirty="0">
                <a:solidFill>
                  <a:prstClr val="white"/>
                </a:solidFill>
                <a:latin typeface="Calibri"/>
              </a:rPr>
              <a:t>Log Aggregation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6099" y="3841230"/>
            <a:ext cx="1615206" cy="693393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sz="1400" b="1" dirty="0">
                <a:solidFill>
                  <a:prstClr val="white"/>
                </a:solidFill>
                <a:latin typeface="Calibri"/>
              </a:rPr>
              <a:t>Azure Monitor</a:t>
            </a:r>
          </a:p>
          <a:p>
            <a:pPr defTabSz="457200"/>
            <a:r>
              <a:rPr sz="1000" b="1" dirty="0">
                <a:solidFill>
                  <a:prstClr val="white"/>
                </a:solidFill>
                <a:latin typeface="Calibri"/>
              </a:rPr>
              <a:t>Metrics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7742" y="3877733"/>
            <a:ext cx="1578052" cy="672207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1400" b="1"/>
            </a:pPr>
            <a:r>
              <a:rPr sz="1400" b="1" dirty="0">
                <a:solidFill>
                  <a:prstClr val="white"/>
                </a:solidFill>
                <a:latin typeface="Calibri"/>
              </a:rPr>
              <a:t>Grafana</a:t>
            </a:r>
          </a:p>
          <a:p>
            <a:pPr defTabSz="457200"/>
            <a:r>
              <a:rPr sz="1000" dirty="0">
                <a:solidFill>
                  <a:prstClr val="white"/>
                </a:solidFill>
                <a:latin typeface="Calibri"/>
              </a:rPr>
              <a:t>Visualization &amp; Dashboards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EFE8EC-3599-4ED1-B2B1-EE7BE62239BF}"/>
              </a:ext>
            </a:extLst>
          </p:cNvPr>
          <p:cNvCxnSpPr>
            <a:cxnSpLocks/>
          </p:cNvCxnSpPr>
          <p:nvPr/>
        </p:nvCxnSpPr>
        <p:spPr>
          <a:xfrm>
            <a:off x="3723329" y="3010697"/>
            <a:ext cx="59252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821A01-8D5A-4E54-B4A5-6B06390DACF7}"/>
              </a:ext>
            </a:extLst>
          </p:cNvPr>
          <p:cNvCxnSpPr>
            <a:cxnSpLocks/>
          </p:cNvCxnSpPr>
          <p:nvPr/>
        </p:nvCxnSpPr>
        <p:spPr>
          <a:xfrm flipV="1">
            <a:off x="5918559" y="2989754"/>
            <a:ext cx="82090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AAE51E-2AC8-4779-939B-CD2341BB7CCB}"/>
              </a:ext>
            </a:extLst>
          </p:cNvPr>
          <p:cNvSpPr txBox="1"/>
          <p:nvPr/>
        </p:nvSpPr>
        <p:spPr>
          <a:xfrm>
            <a:off x="3777331" y="279525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logs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B473DC-32B3-4783-98B9-5A91190C813B}"/>
              </a:ext>
            </a:extLst>
          </p:cNvPr>
          <p:cNvSpPr txBox="1"/>
          <p:nvPr/>
        </p:nvSpPr>
        <p:spPr>
          <a:xfrm>
            <a:off x="6082249" y="2781787"/>
            <a:ext cx="435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push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F3C8FAB-ACD7-4199-9464-26CEB4391D0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537631" y="3305341"/>
            <a:ext cx="0" cy="572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FE965CF4-2479-40AB-B3B2-3D27F5D9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267" y="4009020"/>
            <a:ext cx="562053" cy="40963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4973676-9F72-4AE4-8164-C4E523892365}"/>
              </a:ext>
            </a:extLst>
          </p:cNvPr>
          <p:cNvSpPr txBox="1"/>
          <p:nvPr/>
        </p:nvSpPr>
        <p:spPr>
          <a:xfrm>
            <a:off x="7546768" y="3444938"/>
            <a:ext cx="4267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query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D527A3-6E32-493B-BB15-7AF3E9487EAC}"/>
              </a:ext>
            </a:extLst>
          </p:cNvPr>
          <p:cNvSpPr txBox="1"/>
          <p:nvPr/>
        </p:nvSpPr>
        <p:spPr>
          <a:xfrm>
            <a:off x="6066583" y="4239607"/>
            <a:ext cx="4940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metrics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3B9116-D93C-4886-AD57-C0C63685E281}"/>
              </a:ext>
            </a:extLst>
          </p:cNvPr>
          <p:cNvSpPr txBox="1"/>
          <p:nvPr/>
        </p:nvSpPr>
        <p:spPr>
          <a:xfrm>
            <a:off x="8446035" y="4248832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view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C85C896-9007-4BD3-AE38-A095C1D7724E}"/>
              </a:ext>
            </a:extLst>
          </p:cNvPr>
          <p:cNvCxnSpPr>
            <a:cxnSpLocks/>
          </p:cNvCxnSpPr>
          <p:nvPr/>
        </p:nvCxnSpPr>
        <p:spPr>
          <a:xfrm flipV="1">
            <a:off x="5936833" y="4213836"/>
            <a:ext cx="82090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4437C12-761C-4CA9-9DB3-F81C1DF6F4DC}"/>
              </a:ext>
            </a:extLst>
          </p:cNvPr>
          <p:cNvCxnSpPr>
            <a:cxnSpLocks/>
          </p:cNvCxnSpPr>
          <p:nvPr/>
        </p:nvCxnSpPr>
        <p:spPr>
          <a:xfrm>
            <a:off x="8334138" y="4213838"/>
            <a:ext cx="492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53143" y="383177"/>
            <a:ext cx="10929257" cy="6000206"/>
          </a:xfrm>
        </p:spPr>
        <p:txBody>
          <a:bodyPr/>
          <a:lstStyle/>
          <a:p>
            <a:pPr algn="l"/>
            <a:endParaRPr lang="en-US" sz="1800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18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IN" sz="32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96091"/>
            <a:ext cx="8035548" cy="570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30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269" y="696993"/>
            <a:ext cx="6929564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4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31" y="508695"/>
            <a:ext cx="6378493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38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753" y="1177095"/>
            <a:ext cx="6378493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0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274321"/>
            <a:ext cx="464620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3200" b="1"/>
            </a:pPr>
            <a:r>
              <a:rPr sz="3200" b="1">
                <a:solidFill>
                  <a:prstClr val="black"/>
                </a:solidFill>
                <a:latin typeface="Calibri"/>
              </a:rPr>
              <a:t>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4080" y="1188720"/>
            <a:ext cx="8046720" cy="822960"/>
          </a:xfrm>
          <a:prstGeom prst="roundRect">
            <a:avLst/>
          </a:prstGeom>
          <a:solidFill>
            <a:srgbClr val="F2F6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2346960" y="1325880"/>
            <a:ext cx="457200" cy="4572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7040" y="1325880"/>
            <a:ext cx="21364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600" b="1"/>
            </a:pPr>
            <a:r>
              <a:rPr sz="1600" b="1" dirty="0">
                <a:solidFill>
                  <a:prstClr val="black"/>
                </a:solidFill>
                <a:latin typeface="Calibri"/>
              </a:rPr>
              <a:t>Setup Loki</a:t>
            </a:r>
          </a:p>
          <a:p>
            <a:pPr defTabSz="457200">
              <a:defRPr sz="1200">
                <a:solidFill>
                  <a:srgbClr val="505050"/>
                </a:solidFill>
              </a:defRPr>
            </a:pPr>
            <a:r>
              <a:rPr sz="1200" dirty="0">
                <a:solidFill>
                  <a:srgbClr val="505050"/>
                </a:solidFill>
                <a:latin typeface="Calibri"/>
              </a:rPr>
              <a:t>Deploy Loki in Docker</a:t>
            </a:r>
            <a:r>
              <a:rPr lang="en-US" sz="1200" dirty="0">
                <a:solidFill>
                  <a:srgbClr val="505050"/>
                </a:solidFill>
                <a:latin typeface="Calibri"/>
              </a:rPr>
              <a:t> compose</a:t>
            </a:r>
            <a:endParaRPr sz="1200" dirty="0">
              <a:solidFill>
                <a:srgbClr val="505050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64080" y="2103120"/>
            <a:ext cx="8046720" cy="822960"/>
          </a:xfrm>
          <a:prstGeom prst="roundRect">
            <a:avLst/>
          </a:prstGeom>
          <a:solidFill>
            <a:srgbClr val="F2F6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2346960" y="2240279"/>
            <a:ext cx="457200" cy="4572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7041" y="2240279"/>
            <a:ext cx="34649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600" b="1"/>
            </a:pPr>
            <a:r>
              <a:rPr sz="1600" b="1">
                <a:solidFill>
                  <a:prstClr val="black"/>
                </a:solidFill>
                <a:latin typeface="Calibri"/>
              </a:rPr>
              <a:t>Configure Promtail</a:t>
            </a:r>
          </a:p>
          <a:p>
            <a:pPr defTabSz="457200">
              <a:defRPr sz="1200">
                <a:solidFill>
                  <a:srgbClr val="505050"/>
                </a:solidFill>
              </a:defRPr>
            </a:pPr>
            <a:r>
              <a:rPr sz="1200">
                <a:solidFill>
                  <a:srgbClr val="505050"/>
                </a:solidFill>
                <a:latin typeface="Calibri"/>
              </a:rPr>
              <a:t>Install agents on Azure resources with scrape configs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4080" y="3017520"/>
            <a:ext cx="8046720" cy="822960"/>
          </a:xfrm>
          <a:prstGeom prst="roundRect">
            <a:avLst/>
          </a:prstGeom>
          <a:solidFill>
            <a:srgbClr val="F2F6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346960" y="3154679"/>
            <a:ext cx="457200" cy="4572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7040" y="3154679"/>
            <a:ext cx="29059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600" b="1"/>
            </a:pPr>
            <a:r>
              <a:rPr sz="1600" b="1">
                <a:solidFill>
                  <a:prstClr val="black"/>
                </a:solidFill>
                <a:latin typeface="Calibri"/>
              </a:rPr>
              <a:t>Install Grafana</a:t>
            </a:r>
          </a:p>
          <a:p>
            <a:pPr defTabSz="457200">
              <a:defRPr sz="1200">
                <a:solidFill>
                  <a:srgbClr val="505050"/>
                </a:solidFill>
              </a:defRPr>
            </a:pPr>
            <a:r>
              <a:rPr sz="1200">
                <a:solidFill>
                  <a:srgbClr val="505050"/>
                </a:solidFill>
                <a:latin typeface="Calibri"/>
              </a:rPr>
              <a:t>Deploy Grafana and add Loki as data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4080" y="3931920"/>
            <a:ext cx="8046720" cy="822960"/>
          </a:xfrm>
          <a:prstGeom prst="roundRect">
            <a:avLst/>
          </a:prstGeom>
          <a:solidFill>
            <a:srgbClr val="F2F6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346960" y="4069080"/>
            <a:ext cx="457200" cy="4572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7041" y="4069080"/>
            <a:ext cx="3170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600" b="1"/>
            </a:pPr>
            <a:r>
              <a:rPr sz="1600" b="1">
                <a:solidFill>
                  <a:prstClr val="black"/>
                </a:solidFill>
                <a:latin typeface="Calibri"/>
              </a:rPr>
              <a:t>Azure Integration</a:t>
            </a:r>
          </a:p>
          <a:p>
            <a:pPr defTabSz="457200">
              <a:defRPr sz="1200">
                <a:solidFill>
                  <a:srgbClr val="505050"/>
                </a:solidFill>
              </a:defRPr>
            </a:pPr>
            <a:r>
              <a:rPr sz="1200">
                <a:solidFill>
                  <a:srgbClr val="505050"/>
                </a:solidFill>
                <a:latin typeface="Calibri"/>
              </a:rPr>
              <a:t>Configure Azure Monitor data source in Grafana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4080" y="4846320"/>
            <a:ext cx="8046720" cy="822960"/>
          </a:xfrm>
          <a:prstGeom prst="roundRect">
            <a:avLst/>
          </a:prstGeom>
          <a:solidFill>
            <a:srgbClr val="F2F6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346960" y="4983480"/>
            <a:ext cx="457200" cy="4572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7040" y="4983480"/>
            <a:ext cx="26732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600" b="1"/>
            </a:pPr>
            <a:r>
              <a:rPr sz="1600" b="1">
                <a:solidFill>
                  <a:prstClr val="black"/>
                </a:solidFill>
                <a:latin typeface="Calibri"/>
              </a:rPr>
              <a:t>Create Dashboards</a:t>
            </a:r>
          </a:p>
          <a:p>
            <a:pPr defTabSz="457200">
              <a:defRPr sz="1200">
                <a:solidFill>
                  <a:srgbClr val="505050"/>
                </a:solidFill>
              </a:defRPr>
            </a:pPr>
            <a:r>
              <a:rPr sz="1200">
                <a:solidFill>
                  <a:srgbClr val="505050"/>
                </a:solidFill>
                <a:latin typeface="Calibri"/>
              </a:rPr>
              <a:t>Build panels for logs, metrics, and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64080" y="5760720"/>
            <a:ext cx="8046720" cy="822960"/>
          </a:xfrm>
          <a:prstGeom prst="roundRect">
            <a:avLst/>
          </a:prstGeom>
          <a:solidFill>
            <a:srgbClr val="F2F6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2346960" y="5897880"/>
            <a:ext cx="457200" cy="4572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7041" y="5897880"/>
            <a:ext cx="30644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600" b="1"/>
            </a:pPr>
            <a:r>
              <a:rPr sz="1600" b="1">
                <a:solidFill>
                  <a:prstClr val="black"/>
                </a:solidFill>
                <a:latin typeface="Calibri"/>
              </a:rPr>
              <a:t>Setup Alerts</a:t>
            </a:r>
          </a:p>
          <a:p>
            <a:pPr defTabSz="457200">
              <a:defRPr sz="1200">
                <a:solidFill>
                  <a:srgbClr val="505050"/>
                </a:solidFill>
              </a:defRPr>
            </a:pPr>
            <a:r>
              <a:rPr sz="1200">
                <a:solidFill>
                  <a:srgbClr val="505050"/>
                </a:solidFill>
                <a:latin typeface="Calibri"/>
              </a:rPr>
              <a:t>Configure alert rules and notification channels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1024681"/>
            <a:ext cx="6340389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9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109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ui-sans-serif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user</cp:lastModifiedBy>
  <cp:revision>20</cp:revision>
  <dcterms:created xsi:type="dcterms:W3CDTF">2025-12-23T06:27:04Z</dcterms:created>
  <dcterms:modified xsi:type="dcterms:W3CDTF">2026-01-08T10:51:18Z</dcterms:modified>
</cp:coreProperties>
</file>