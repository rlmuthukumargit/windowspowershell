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6" r:id="rId3"/>
    <p:sldId id="266" r:id="rId4"/>
    <p:sldId id="258" r:id="rId5"/>
    <p:sldId id="259" r:id="rId6"/>
    <p:sldId id="260" r:id="rId7"/>
    <p:sldId id="261" r:id="rId8"/>
    <p:sldId id="262" r:id="rId9"/>
    <p:sldId id="267" r:id="rId10"/>
    <p:sldId id="2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6769B-7200-494A-8802-1B6C4D3CEF92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9ED62-E319-42B8-8CB1-C28B499A95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6938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6769B-7200-494A-8802-1B6C4D3CEF92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9ED62-E319-42B8-8CB1-C28B499A95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64842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6769B-7200-494A-8802-1B6C4D3CEF92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9ED62-E319-42B8-8CB1-C28B499A95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24457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6769B-7200-494A-8802-1B6C4D3CEF92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9ED62-E319-42B8-8CB1-C28B499A95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619590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6769B-7200-494A-8802-1B6C4D3CEF92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9ED62-E319-42B8-8CB1-C28B499A95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84285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6769B-7200-494A-8802-1B6C4D3CEF92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9ED62-E319-42B8-8CB1-C28B499A95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06788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6769B-7200-494A-8802-1B6C4D3CEF92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9ED62-E319-42B8-8CB1-C28B499A95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659812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6769B-7200-494A-8802-1B6C4D3CEF92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9ED62-E319-42B8-8CB1-C28B499A95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84615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6769B-7200-494A-8802-1B6C4D3CEF92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9ED62-E319-42B8-8CB1-C28B499A95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17328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6769B-7200-494A-8802-1B6C4D3CEF92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9ED62-E319-42B8-8CB1-C28B499A95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3971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6769B-7200-494A-8802-1B6C4D3CEF92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9ED62-E319-42B8-8CB1-C28B499A95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197494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2585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6759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0979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0853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66411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901496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14584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8195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165565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67509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7540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36769B-7200-494A-8802-1B6C4D3CEF92}" type="datetimeFigureOut">
              <a:rPr lang="en-IN" smtClean="0"/>
              <a:t>08-01-2026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09ED62-E319-42B8-8CB1-C28B499A95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41334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3297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31817" y="383177"/>
            <a:ext cx="9736183" cy="5765073"/>
          </a:xfrm>
        </p:spPr>
        <p:txBody>
          <a:bodyPr/>
          <a:lstStyle/>
          <a:p>
            <a:endParaRPr lang="en-US" dirty="0"/>
          </a:p>
          <a:p>
            <a:endParaRPr lang="en-IN" sz="4800" b="1" dirty="0"/>
          </a:p>
          <a:p>
            <a:endParaRPr lang="en-IN" sz="4800" b="1" dirty="0"/>
          </a:p>
          <a:p>
            <a:r>
              <a:rPr lang="en-IN" sz="4800" b="1" dirty="0"/>
              <a:t>Grafana Monitoring Solution</a:t>
            </a:r>
          </a:p>
          <a:p>
            <a:r>
              <a:rPr lang="en-US" sz="2800" dirty="0"/>
              <a:t>Chatbot Monitoring with Loki and Promtail</a:t>
            </a:r>
            <a:endParaRPr lang="en-IN" sz="2800" b="1" dirty="0"/>
          </a:p>
          <a:p>
            <a:endParaRPr lang="en-US" dirty="0"/>
          </a:p>
          <a:p>
            <a:r>
              <a:rPr lang="en-IN" dirty="0">
                <a:solidFill>
                  <a:schemeClr val="tx2"/>
                </a:solidFill>
              </a:rPr>
              <a:t>Enterprise Monitoring Solution</a:t>
            </a:r>
          </a:p>
        </p:txBody>
      </p:sp>
    </p:spTree>
    <p:extLst>
      <p:ext uri="{BB962C8B-B14F-4D97-AF65-F5344CB8AC3E}">
        <p14:creationId xmlns:p14="http://schemas.microsoft.com/office/powerpoint/2010/main" val="21427610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38400" y="274321"/>
            <a:ext cx="415972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defTabSz="457200">
              <a:defRPr sz="3200" b="1"/>
            </a:pPr>
            <a:r>
              <a:rPr sz="3200" b="1" dirty="0">
                <a:solidFill>
                  <a:prstClr val="black"/>
                </a:solidFill>
                <a:latin typeface="Calibri"/>
              </a:rPr>
              <a:t>High-Level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1709546" y="2396940"/>
            <a:ext cx="1766259" cy="522157"/>
          </a:xfrm>
          <a:prstGeom prst="rect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defRPr sz="1400" b="1"/>
            </a:pPr>
            <a:r>
              <a:rPr sz="1400" b="1" dirty="0">
                <a:solidFill>
                  <a:prstClr val="white"/>
                </a:solidFill>
                <a:latin typeface="Calibri"/>
              </a:rPr>
              <a:t>Azure Bot Service</a:t>
            </a:r>
          </a:p>
          <a:p>
            <a:pPr defTabSz="457200"/>
            <a:r>
              <a:rPr sz="1000" dirty="0">
                <a:solidFill>
                  <a:prstClr val="white"/>
                </a:solidFill>
                <a:latin typeface="Calibri"/>
              </a:rPr>
              <a:t>Application Logs</a:t>
            </a:r>
          </a:p>
        </p:txBody>
      </p:sp>
      <p:sp>
        <p:nvSpPr>
          <p:cNvPr id="4" name="Rectangle 3"/>
          <p:cNvSpPr/>
          <p:nvPr/>
        </p:nvSpPr>
        <p:spPr>
          <a:xfrm>
            <a:off x="1742019" y="3106697"/>
            <a:ext cx="1759305" cy="562141"/>
          </a:xfrm>
          <a:prstGeom prst="rect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defRPr sz="1400" b="1"/>
            </a:pPr>
            <a:r>
              <a:rPr sz="1400" b="1" dirty="0">
                <a:solidFill>
                  <a:prstClr val="white"/>
                </a:solidFill>
                <a:latin typeface="Calibri"/>
              </a:rPr>
              <a:t>Azure Web App</a:t>
            </a:r>
          </a:p>
          <a:p>
            <a:pPr defTabSz="457200"/>
            <a:r>
              <a:rPr sz="1000" dirty="0">
                <a:solidFill>
                  <a:prstClr val="white"/>
                </a:solidFill>
                <a:latin typeface="Calibri"/>
              </a:rPr>
              <a:t>Application Logs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2232" y="2633134"/>
            <a:ext cx="1596327" cy="693394"/>
          </a:xfrm>
          <a:prstGeom prst="rect">
            <a:avLst/>
          </a:prstGeom>
          <a:solidFill>
            <a:srgbClr val="ED7D3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defRPr sz="1400" b="1"/>
            </a:pPr>
            <a:r>
              <a:rPr sz="1400" b="1" dirty="0" err="1">
                <a:solidFill>
                  <a:prstClr val="white"/>
                </a:solidFill>
                <a:latin typeface="Calibri"/>
              </a:rPr>
              <a:t>Promtail</a:t>
            </a:r>
            <a:endParaRPr sz="1400" b="1" dirty="0">
              <a:solidFill>
                <a:prstClr val="white"/>
              </a:solidFill>
              <a:latin typeface="Calibri"/>
            </a:endParaRPr>
          </a:p>
          <a:p>
            <a:pPr defTabSz="457200"/>
            <a:r>
              <a:rPr sz="1000" dirty="0">
                <a:solidFill>
                  <a:prstClr val="white"/>
                </a:solidFill>
                <a:latin typeface="Calibri"/>
              </a:rPr>
              <a:t>Log Collector &amp; Shipper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739467" y="2633134"/>
            <a:ext cx="1596327" cy="672207"/>
          </a:xfrm>
          <a:prstGeom prst="rect">
            <a:avLst/>
          </a:prstGeom>
          <a:solidFill>
            <a:srgbClr val="ED7D3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defRPr sz="1400" b="1"/>
            </a:pPr>
            <a:r>
              <a:rPr sz="1400" b="1" dirty="0">
                <a:solidFill>
                  <a:prstClr val="white"/>
                </a:solidFill>
                <a:latin typeface="Calibri"/>
              </a:rPr>
              <a:t>Loki</a:t>
            </a:r>
          </a:p>
          <a:p>
            <a:pPr defTabSz="457200"/>
            <a:r>
              <a:rPr sz="1000" dirty="0">
                <a:solidFill>
                  <a:prstClr val="white"/>
                </a:solidFill>
                <a:latin typeface="Calibri"/>
              </a:rPr>
              <a:t>Log Aggregation Storage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6099" y="3841230"/>
            <a:ext cx="1615206" cy="693393"/>
          </a:xfrm>
          <a:prstGeom prst="rect">
            <a:avLst/>
          </a:prstGeom>
          <a:solidFill>
            <a:srgbClr val="ED7D3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/>
            <a:r>
              <a:rPr sz="1400" b="1" dirty="0">
                <a:solidFill>
                  <a:prstClr val="white"/>
                </a:solidFill>
                <a:latin typeface="Calibri"/>
              </a:rPr>
              <a:t>Azure Monitor</a:t>
            </a:r>
          </a:p>
          <a:p>
            <a:pPr defTabSz="457200"/>
            <a:r>
              <a:rPr sz="1000" b="1" dirty="0">
                <a:solidFill>
                  <a:prstClr val="white"/>
                </a:solidFill>
                <a:latin typeface="Calibri"/>
              </a:rPr>
              <a:t>Metrics API</a:t>
            </a:r>
          </a:p>
        </p:txBody>
      </p:sp>
      <p:sp>
        <p:nvSpPr>
          <p:cNvPr id="8" name="Rectangle 7"/>
          <p:cNvSpPr/>
          <p:nvPr/>
        </p:nvSpPr>
        <p:spPr>
          <a:xfrm>
            <a:off x="6757742" y="3877733"/>
            <a:ext cx="1578052" cy="672207"/>
          </a:xfrm>
          <a:prstGeom prst="rect">
            <a:avLst/>
          </a:prstGeom>
          <a:solidFill>
            <a:srgbClr val="ED7D3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defRPr sz="1400" b="1"/>
            </a:pPr>
            <a:r>
              <a:rPr sz="1400" b="1" dirty="0">
                <a:solidFill>
                  <a:prstClr val="white"/>
                </a:solidFill>
                <a:latin typeface="Calibri"/>
              </a:rPr>
              <a:t>Grafana</a:t>
            </a:r>
          </a:p>
          <a:p>
            <a:pPr defTabSz="457200"/>
            <a:r>
              <a:rPr sz="1000" dirty="0">
                <a:solidFill>
                  <a:prstClr val="white"/>
                </a:solidFill>
                <a:latin typeface="Calibri"/>
              </a:rPr>
              <a:t>Visualization &amp; Dashboards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1673CE6-4D5E-4065-AB1F-57129065C513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3475805" y="2658019"/>
            <a:ext cx="846427" cy="3218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FEFE8EC-3599-4ED1-B2B1-EE7BE62239BF}"/>
              </a:ext>
            </a:extLst>
          </p:cNvPr>
          <p:cNvCxnSpPr>
            <a:cxnSpLocks/>
          </p:cNvCxnSpPr>
          <p:nvPr/>
        </p:nvCxnSpPr>
        <p:spPr>
          <a:xfrm flipV="1">
            <a:off x="3488565" y="3090094"/>
            <a:ext cx="833667" cy="3313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C821A01-8D5A-4E54-B4A5-6B06390DACF7}"/>
              </a:ext>
            </a:extLst>
          </p:cNvPr>
          <p:cNvCxnSpPr>
            <a:cxnSpLocks/>
          </p:cNvCxnSpPr>
          <p:nvPr/>
        </p:nvCxnSpPr>
        <p:spPr>
          <a:xfrm flipV="1">
            <a:off x="5918559" y="2989754"/>
            <a:ext cx="820908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BAAE51E-2AC8-4779-939B-CD2341BB7CCB}"/>
              </a:ext>
            </a:extLst>
          </p:cNvPr>
          <p:cNvSpPr txBox="1"/>
          <p:nvPr/>
        </p:nvSpPr>
        <p:spPr>
          <a:xfrm>
            <a:off x="3723329" y="2579685"/>
            <a:ext cx="3513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logs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5AE9C2-188D-4BC8-A074-4C659585E4DC}"/>
              </a:ext>
            </a:extLst>
          </p:cNvPr>
          <p:cNvSpPr txBox="1"/>
          <p:nvPr/>
        </p:nvSpPr>
        <p:spPr>
          <a:xfrm>
            <a:off x="3707292" y="3280045"/>
            <a:ext cx="3513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logs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0B473DC-32B3-4783-98B9-5A91190C813B}"/>
              </a:ext>
            </a:extLst>
          </p:cNvPr>
          <p:cNvSpPr txBox="1"/>
          <p:nvPr/>
        </p:nvSpPr>
        <p:spPr>
          <a:xfrm>
            <a:off x="6096000" y="2730866"/>
            <a:ext cx="4352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push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AF3C8FAB-ACD7-4199-9464-26CEB4391D0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7537631" y="3305341"/>
            <a:ext cx="0" cy="572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9" name="Picture 48">
            <a:extLst>
              <a:ext uri="{FF2B5EF4-FFF2-40B4-BE49-F238E27FC236}">
                <a16:creationId xmlns:a16="http://schemas.microsoft.com/office/drawing/2014/main" id="{FE965CF4-2479-40AB-B3B2-3D27F5D95A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6509" y="4009020"/>
            <a:ext cx="562053" cy="409632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24973676-9F72-4AE4-8164-C4E523892365}"/>
              </a:ext>
            </a:extLst>
          </p:cNvPr>
          <p:cNvSpPr txBox="1"/>
          <p:nvPr/>
        </p:nvSpPr>
        <p:spPr>
          <a:xfrm>
            <a:off x="7546768" y="3444938"/>
            <a:ext cx="42672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query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0D527A3-6E32-493B-BB15-7AF3E9487EAC}"/>
              </a:ext>
            </a:extLst>
          </p:cNvPr>
          <p:cNvSpPr txBox="1"/>
          <p:nvPr/>
        </p:nvSpPr>
        <p:spPr>
          <a:xfrm>
            <a:off x="6100264" y="4248832"/>
            <a:ext cx="49404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metrics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53B9116-D93C-4886-AD57-C0C63685E281}"/>
              </a:ext>
            </a:extLst>
          </p:cNvPr>
          <p:cNvSpPr txBox="1"/>
          <p:nvPr/>
        </p:nvSpPr>
        <p:spPr>
          <a:xfrm>
            <a:off x="8446035" y="4248832"/>
            <a:ext cx="38023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view</a:t>
            </a: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6C85C896-9007-4BD3-AE38-A095C1D7724E}"/>
              </a:ext>
            </a:extLst>
          </p:cNvPr>
          <p:cNvCxnSpPr>
            <a:cxnSpLocks/>
          </p:cNvCxnSpPr>
          <p:nvPr/>
        </p:nvCxnSpPr>
        <p:spPr>
          <a:xfrm flipV="1">
            <a:off x="5936833" y="4213836"/>
            <a:ext cx="820908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A4437C12-761C-4CA9-9DB3-F81C1DF6F4DC}"/>
              </a:ext>
            </a:extLst>
          </p:cNvPr>
          <p:cNvCxnSpPr>
            <a:cxnSpLocks/>
            <a:endCxn id="49" idx="1"/>
          </p:cNvCxnSpPr>
          <p:nvPr/>
        </p:nvCxnSpPr>
        <p:spPr>
          <a:xfrm flipV="1">
            <a:off x="8334138" y="4213836"/>
            <a:ext cx="602371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ubtitle 6"/>
          <p:cNvSpPr>
            <a:spLocks noGrp="1"/>
          </p:cNvSpPr>
          <p:nvPr>
            <p:ph type="subTitle" idx="1"/>
          </p:nvPr>
        </p:nvSpPr>
        <p:spPr>
          <a:xfrm>
            <a:off x="653143" y="383177"/>
            <a:ext cx="10929257" cy="6000206"/>
          </a:xfrm>
        </p:spPr>
        <p:txBody>
          <a:bodyPr/>
          <a:lstStyle/>
          <a:p>
            <a:pPr algn="l"/>
            <a:endParaRPr lang="en-US" sz="1800" dirty="0"/>
          </a:p>
          <a:p>
            <a:pPr marL="342900" indent="-342900" algn="l">
              <a:buFont typeface="Wingdings" panose="05000000000000000000" pitchFamily="2" charset="2"/>
              <a:buChar char="§"/>
            </a:pPr>
            <a:endParaRPr lang="en-US" sz="1800" b="0" i="0" dirty="0">
              <a:solidFill>
                <a:srgbClr val="374151"/>
              </a:solidFill>
              <a:effectLst/>
              <a:latin typeface="ui-sans-serif"/>
            </a:endParaRPr>
          </a:p>
          <a:p>
            <a:pPr algn="l"/>
            <a:endParaRPr lang="en-IN" sz="3200" b="1" dirty="0"/>
          </a:p>
          <a:p>
            <a:endParaRPr lang="en-IN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320" y="296091"/>
            <a:ext cx="8035548" cy="5708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37301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269" y="696993"/>
            <a:ext cx="6929564" cy="5464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240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1063" y="1253301"/>
            <a:ext cx="6149873" cy="4351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0005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131" y="508695"/>
            <a:ext cx="6378493" cy="4900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1381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6753" y="1177095"/>
            <a:ext cx="6378493" cy="4503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9017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55520" y="274321"/>
            <a:ext cx="464620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>
              <a:defRPr sz="3200" b="1"/>
            </a:pPr>
            <a:r>
              <a:rPr sz="3200" b="1">
                <a:solidFill>
                  <a:prstClr val="black"/>
                </a:solidFill>
                <a:latin typeface="Calibri"/>
              </a:rPr>
              <a:t>Implementation 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64080" y="1188720"/>
            <a:ext cx="8046720" cy="822960"/>
          </a:xfrm>
          <a:prstGeom prst="roundRect">
            <a:avLst/>
          </a:prstGeom>
          <a:solidFill>
            <a:srgbClr val="F2F6FC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Oval 3"/>
          <p:cNvSpPr/>
          <p:nvPr/>
        </p:nvSpPr>
        <p:spPr>
          <a:xfrm>
            <a:off x="2346960" y="1325880"/>
            <a:ext cx="457200" cy="457200"/>
          </a:xfrm>
          <a:prstGeom prst="ellipse">
            <a:avLst/>
          </a:prstGeom>
          <a:solidFill>
            <a:srgbClr val="ED7D3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defRPr b="1">
                <a:solidFill>
                  <a:srgbClr val="FFFFFF"/>
                </a:solidFill>
              </a:defRPr>
            </a:pPr>
            <a:r>
              <a:rPr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87040" y="1325880"/>
            <a:ext cx="213648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>
              <a:defRPr sz="1600" b="1"/>
            </a:pPr>
            <a:r>
              <a:rPr sz="1600" b="1" dirty="0">
                <a:solidFill>
                  <a:prstClr val="black"/>
                </a:solidFill>
                <a:latin typeface="Calibri"/>
              </a:rPr>
              <a:t>Setup Loki</a:t>
            </a:r>
          </a:p>
          <a:p>
            <a:pPr defTabSz="457200">
              <a:defRPr sz="1200">
                <a:solidFill>
                  <a:srgbClr val="505050"/>
                </a:solidFill>
              </a:defRPr>
            </a:pPr>
            <a:r>
              <a:rPr sz="1200" dirty="0">
                <a:solidFill>
                  <a:srgbClr val="505050"/>
                </a:solidFill>
                <a:latin typeface="Calibri"/>
              </a:rPr>
              <a:t>Deploy Loki in Docker</a:t>
            </a:r>
            <a:r>
              <a:rPr lang="en-US" sz="1200" dirty="0">
                <a:solidFill>
                  <a:srgbClr val="505050"/>
                </a:solidFill>
                <a:latin typeface="Calibri"/>
              </a:rPr>
              <a:t> compose</a:t>
            </a:r>
            <a:endParaRPr sz="1200" dirty="0">
              <a:solidFill>
                <a:srgbClr val="505050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2164080" y="2103120"/>
            <a:ext cx="8046720" cy="822960"/>
          </a:xfrm>
          <a:prstGeom prst="roundRect">
            <a:avLst/>
          </a:prstGeom>
          <a:solidFill>
            <a:srgbClr val="F2F6FC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7" name="Oval 6"/>
          <p:cNvSpPr/>
          <p:nvPr/>
        </p:nvSpPr>
        <p:spPr>
          <a:xfrm>
            <a:off x="2346960" y="2240279"/>
            <a:ext cx="457200" cy="457200"/>
          </a:xfrm>
          <a:prstGeom prst="ellipse">
            <a:avLst/>
          </a:prstGeom>
          <a:solidFill>
            <a:srgbClr val="ED7D3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defRPr b="1">
                <a:solidFill>
                  <a:srgbClr val="FFFFFF"/>
                </a:solidFill>
              </a:defRPr>
            </a:pPr>
            <a:r>
              <a:rPr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87041" y="2240279"/>
            <a:ext cx="346492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>
              <a:defRPr sz="1600" b="1"/>
            </a:pPr>
            <a:r>
              <a:rPr sz="1600" b="1">
                <a:solidFill>
                  <a:prstClr val="black"/>
                </a:solidFill>
                <a:latin typeface="Calibri"/>
              </a:rPr>
              <a:t>Configure Promtail</a:t>
            </a:r>
          </a:p>
          <a:p>
            <a:pPr defTabSz="457200">
              <a:defRPr sz="1200">
                <a:solidFill>
                  <a:srgbClr val="505050"/>
                </a:solidFill>
              </a:defRPr>
            </a:pPr>
            <a:r>
              <a:rPr sz="1200">
                <a:solidFill>
                  <a:srgbClr val="505050"/>
                </a:solidFill>
                <a:latin typeface="Calibri"/>
              </a:rPr>
              <a:t>Install agents on Azure resources with scrape configs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64080" y="3017520"/>
            <a:ext cx="8046720" cy="822960"/>
          </a:xfrm>
          <a:prstGeom prst="roundRect">
            <a:avLst/>
          </a:prstGeom>
          <a:solidFill>
            <a:srgbClr val="F2F6FC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" name="Oval 9"/>
          <p:cNvSpPr/>
          <p:nvPr/>
        </p:nvSpPr>
        <p:spPr>
          <a:xfrm>
            <a:off x="2346960" y="3154679"/>
            <a:ext cx="457200" cy="457200"/>
          </a:xfrm>
          <a:prstGeom prst="ellipse">
            <a:avLst/>
          </a:prstGeom>
          <a:solidFill>
            <a:srgbClr val="ED7D3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defRPr b="1">
                <a:solidFill>
                  <a:srgbClr val="FFFFFF"/>
                </a:solidFill>
              </a:defRPr>
            </a:pPr>
            <a:r>
              <a:rPr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87040" y="3154679"/>
            <a:ext cx="290598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>
              <a:defRPr sz="1600" b="1"/>
            </a:pPr>
            <a:r>
              <a:rPr sz="1600" b="1">
                <a:solidFill>
                  <a:prstClr val="black"/>
                </a:solidFill>
                <a:latin typeface="Calibri"/>
              </a:rPr>
              <a:t>Install Grafana</a:t>
            </a:r>
          </a:p>
          <a:p>
            <a:pPr defTabSz="457200">
              <a:defRPr sz="1200">
                <a:solidFill>
                  <a:srgbClr val="505050"/>
                </a:solidFill>
              </a:defRPr>
            </a:pPr>
            <a:r>
              <a:rPr sz="1200">
                <a:solidFill>
                  <a:srgbClr val="505050"/>
                </a:solidFill>
                <a:latin typeface="Calibri"/>
              </a:rPr>
              <a:t>Deploy Grafana and add Loki as data source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64080" y="3931920"/>
            <a:ext cx="8046720" cy="822960"/>
          </a:xfrm>
          <a:prstGeom prst="roundRect">
            <a:avLst/>
          </a:prstGeom>
          <a:solidFill>
            <a:srgbClr val="F2F6FC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2346960" y="4069080"/>
            <a:ext cx="457200" cy="457200"/>
          </a:xfrm>
          <a:prstGeom prst="ellipse">
            <a:avLst/>
          </a:prstGeom>
          <a:solidFill>
            <a:srgbClr val="ED7D3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defRPr b="1">
                <a:solidFill>
                  <a:srgbClr val="FFFFFF"/>
                </a:solidFill>
              </a:defRPr>
            </a:pPr>
            <a:r>
              <a:rPr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7041" y="4069080"/>
            <a:ext cx="317048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>
              <a:defRPr sz="1600" b="1"/>
            </a:pPr>
            <a:r>
              <a:rPr sz="1600" b="1">
                <a:solidFill>
                  <a:prstClr val="black"/>
                </a:solidFill>
                <a:latin typeface="Calibri"/>
              </a:rPr>
              <a:t>Azure Integration</a:t>
            </a:r>
          </a:p>
          <a:p>
            <a:pPr defTabSz="457200">
              <a:defRPr sz="1200">
                <a:solidFill>
                  <a:srgbClr val="505050"/>
                </a:solidFill>
              </a:defRPr>
            </a:pPr>
            <a:r>
              <a:rPr sz="1200">
                <a:solidFill>
                  <a:srgbClr val="505050"/>
                </a:solidFill>
                <a:latin typeface="Calibri"/>
              </a:rPr>
              <a:t>Configure Azure Monitor data source in Grafana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64080" y="4846320"/>
            <a:ext cx="8046720" cy="822960"/>
          </a:xfrm>
          <a:prstGeom prst="roundRect">
            <a:avLst/>
          </a:prstGeom>
          <a:solidFill>
            <a:srgbClr val="F2F6FC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2346960" y="4983480"/>
            <a:ext cx="457200" cy="457200"/>
          </a:xfrm>
          <a:prstGeom prst="ellipse">
            <a:avLst/>
          </a:prstGeom>
          <a:solidFill>
            <a:srgbClr val="ED7D3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defRPr b="1">
                <a:solidFill>
                  <a:srgbClr val="FFFFFF"/>
                </a:solidFill>
              </a:defRPr>
            </a:pPr>
            <a:r>
              <a:rPr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87040" y="4983480"/>
            <a:ext cx="267329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>
              <a:defRPr sz="1600" b="1"/>
            </a:pPr>
            <a:r>
              <a:rPr sz="1600" b="1">
                <a:solidFill>
                  <a:prstClr val="black"/>
                </a:solidFill>
                <a:latin typeface="Calibri"/>
              </a:rPr>
              <a:t>Create Dashboards</a:t>
            </a:r>
          </a:p>
          <a:p>
            <a:pPr defTabSz="457200">
              <a:defRPr sz="1200">
                <a:solidFill>
                  <a:srgbClr val="505050"/>
                </a:solidFill>
              </a:defRPr>
            </a:pPr>
            <a:r>
              <a:rPr sz="1200">
                <a:solidFill>
                  <a:srgbClr val="505050"/>
                </a:solidFill>
                <a:latin typeface="Calibri"/>
              </a:rPr>
              <a:t>Build panels for logs, metrics, and alerts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64080" y="5760720"/>
            <a:ext cx="8046720" cy="822960"/>
          </a:xfrm>
          <a:prstGeom prst="roundRect">
            <a:avLst/>
          </a:prstGeom>
          <a:solidFill>
            <a:srgbClr val="F2F6FC"/>
          </a:solidFill>
          <a:ln>
            <a:solidFill>
              <a:srgbClr val="DC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57200"/>
            <a:endParaRPr>
              <a:solidFill>
                <a:prstClr val="white"/>
              </a:solidFill>
              <a:latin typeface="Calibri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2346960" y="5897880"/>
            <a:ext cx="457200" cy="457200"/>
          </a:xfrm>
          <a:prstGeom prst="ellipse">
            <a:avLst/>
          </a:prstGeom>
          <a:solidFill>
            <a:srgbClr val="ED7D3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defRPr b="1">
                <a:solidFill>
                  <a:srgbClr val="FFFFFF"/>
                </a:solidFill>
              </a:defRPr>
            </a:pPr>
            <a:r>
              <a:rPr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87041" y="5897880"/>
            <a:ext cx="306442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457200">
              <a:defRPr sz="1600" b="1"/>
            </a:pPr>
            <a:r>
              <a:rPr sz="1600" b="1">
                <a:solidFill>
                  <a:prstClr val="black"/>
                </a:solidFill>
                <a:latin typeface="Calibri"/>
              </a:rPr>
              <a:t>Setup Alerts</a:t>
            </a:r>
          </a:p>
          <a:p>
            <a:pPr defTabSz="457200">
              <a:defRPr sz="1200">
                <a:solidFill>
                  <a:srgbClr val="505050"/>
                </a:solidFill>
              </a:defRPr>
            </a:pPr>
            <a:r>
              <a:rPr sz="1200">
                <a:solidFill>
                  <a:srgbClr val="505050"/>
                </a:solidFill>
                <a:latin typeface="Calibri"/>
              </a:rPr>
              <a:t>Configure alert rules and notification channels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5805" y="1024681"/>
            <a:ext cx="6340389" cy="4808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4891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651</TotalTime>
  <Words>110</Words>
  <Application>Microsoft Office PowerPoint</Application>
  <PresentationFormat>Widescreen</PresentationFormat>
  <Paragraphs>47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Arial</vt:lpstr>
      <vt:lpstr>Calibri</vt:lpstr>
      <vt:lpstr>Calibri Light</vt:lpstr>
      <vt:lpstr>ui-sans-serif</vt:lpstr>
      <vt:lpstr>Wingdings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muthu</dc:creator>
  <cp:lastModifiedBy>user</cp:lastModifiedBy>
  <cp:revision>18</cp:revision>
  <dcterms:created xsi:type="dcterms:W3CDTF">2025-12-23T06:27:04Z</dcterms:created>
  <dcterms:modified xsi:type="dcterms:W3CDTF">2026-01-08T10:24:06Z</dcterms:modified>
</cp:coreProperties>
</file>